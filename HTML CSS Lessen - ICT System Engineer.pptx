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2"/>
  </p:notesMasterIdLst>
  <p:handoutMasterIdLst>
    <p:handoutMasterId r:id="rId7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321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322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5F5872-F6DF-A748-8063-9EED0EEFF4C7}" v="6" dt="2026-10-09T06:30:05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1" autoAdjust="0"/>
    <p:restoredTop sz="96200" autoAdjust="0"/>
  </p:normalViewPr>
  <p:slideViewPr>
    <p:cSldViewPr snapToGrid="0" snapToObjects="1">
      <p:cViewPr>
        <p:scale>
          <a:sx n="146" d="100"/>
          <a:sy n="146" d="100"/>
        </p:scale>
        <p:origin x="1352" y="8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4" d="100"/>
          <a:sy n="84" d="100"/>
        </p:scale>
        <p:origin x="43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handoutMaster" Target="handoutMasters/handoutMaster1.xml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Giele" userId="f308f9f3-2c44-4a2f-aa4b-7989c23f5754" providerId="ADAL" clId="{79E1B499-FE53-50DA-871C-E0FC362472B4}"/>
    <pc:docChg chg="undo custSel addSld modSld">
      <pc:chgData name="Alexander Giele" userId="f308f9f3-2c44-4a2f-aa4b-7989c23f5754" providerId="ADAL" clId="{79E1B499-FE53-50DA-871C-E0FC362472B4}" dt="2026-10-09T07:55:54.450" v="256" actId="1076"/>
      <pc:docMkLst>
        <pc:docMk/>
      </pc:docMkLst>
      <pc:sldChg chg="modSp mod">
        <pc:chgData name="Alexander Giele" userId="f308f9f3-2c44-4a2f-aa4b-7989c23f5754" providerId="ADAL" clId="{79E1B499-FE53-50DA-871C-E0FC362472B4}" dt="2026-10-09T06:25:10.405" v="181" actId="404"/>
        <pc:sldMkLst>
          <pc:docMk/>
          <pc:sldMk cId="0" sldId="293"/>
        </pc:sldMkLst>
        <pc:spChg chg="mod">
          <ac:chgData name="Alexander Giele" userId="f308f9f3-2c44-4a2f-aa4b-7989c23f5754" providerId="ADAL" clId="{79E1B499-FE53-50DA-871C-E0FC362472B4}" dt="2026-10-09T06:25:10.405" v="181" actId="404"/>
          <ac:spMkLst>
            <pc:docMk/>
            <pc:sldMk cId="0" sldId="293"/>
            <ac:spMk id="10" creationId="{00000000-0000-0000-0000-000000000000}"/>
          </ac:spMkLst>
        </pc:spChg>
      </pc:sldChg>
      <pc:sldChg chg="modSp mod">
        <pc:chgData name="Alexander Giele" userId="f308f9f3-2c44-4a2f-aa4b-7989c23f5754" providerId="ADAL" clId="{79E1B499-FE53-50DA-871C-E0FC362472B4}" dt="2026-10-09T06:25:02" v="180" actId="404"/>
        <pc:sldMkLst>
          <pc:docMk/>
          <pc:sldMk cId="0" sldId="294"/>
        </pc:sldMkLst>
        <pc:spChg chg="mod">
          <ac:chgData name="Alexander Giele" userId="f308f9f3-2c44-4a2f-aa4b-7989c23f5754" providerId="ADAL" clId="{79E1B499-FE53-50DA-871C-E0FC362472B4}" dt="2026-10-09T06:24:52.295" v="176" actId="14100"/>
          <ac:spMkLst>
            <pc:docMk/>
            <pc:sldMk cId="0" sldId="294"/>
            <ac:spMk id="6" creationId="{00000000-0000-0000-0000-000000000000}"/>
          </ac:spMkLst>
        </pc:spChg>
        <pc:spChg chg="mod">
          <ac:chgData name="Alexander Giele" userId="f308f9f3-2c44-4a2f-aa4b-7989c23f5754" providerId="ADAL" clId="{79E1B499-FE53-50DA-871C-E0FC362472B4}" dt="2026-10-09T06:25:02" v="180" actId="404"/>
          <ac:spMkLst>
            <pc:docMk/>
            <pc:sldMk cId="0" sldId="294"/>
            <ac:spMk id="10" creationId="{00000000-0000-0000-0000-000000000000}"/>
          </ac:spMkLst>
        </pc:spChg>
      </pc:sldChg>
      <pc:sldChg chg="addSp delSp modSp mod">
        <pc:chgData name="Alexander Giele" userId="f308f9f3-2c44-4a2f-aa4b-7989c23f5754" providerId="ADAL" clId="{79E1B499-FE53-50DA-871C-E0FC362472B4}" dt="2026-10-09T07:53:44.785" v="252" actId="1076"/>
        <pc:sldMkLst>
          <pc:docMk/>
          <pc:sldMk cId="0" sldId="306"/>
        </pc:sldMkLst>
        <pc:spChg chg="del">
          <ac:chgData name="Alexander Giele" userId="f308f9f3-2c44-4a2f-aa4b-7989c23f5754" providerId="ADAL" clId="{79E1B499-FE53-50DA-871C-E0FC362472B4}" dt="2026-10-09T07:53:36.319" v="249" actId="478"/>
          <ac:spMkLst>
            <pc:docMk/>
            <pc:sldMk cId="0" sldId="306"/>
            <ac:spMk id="5" creationId="{00000000-0000-0000-0000-000000000000}"/>
          </ac:spMkLst>
        </pc:spChg>
        <pc:spChg chg="del">
          <ac:chgData name="Alexander Giele" userId="f308f9f3-2c44-4a2f-aa4b-7989c23f5754" providerId="ADAL" clId="{79E1B499-FE53-50DA-871C-E0FC362472B4}" dt="2026-10-09T07:53:36.319" v="249" actId="478"/>
          <ac:spMkLst>
            <pc:docMk/>
            <pc:sldMk cId="0" sldId="306"/>
            <ac:spMk id="7" creationId="{00000000-0000-0000-0000-000000000000}"/>
          </ac:spMkLst>
        </pc:spChg>
        <pc:picChg chg="add mod">
          <ac:chgData name="Alexander Giele" userId="f308f9f3-2c44-4a2f-aa4b-7989c23f5754" providerId="ADAL" clId="{79E1B499-FE53-50DA-871C-E0FC362472B4}" dt="2026-10-09T07:53:44.785" v="252" actId="1076"/>
          <ac:picMkLst>
            <pc:docMk/>
            <pc:sldMk cId="0" sldId="306"/>
            <ac:picMk id="11" creationId="{E2D65648-D188-0013-6843-6FDAAE7D3C0D}"/>
          </ac:picMkLst>
        </pc:picChg>
      </pc:sldChg>
      <pc:sldChg chg="addSp modSp mod">
        <pc:chgData name="Alexander Giele" userId="f308f9f3-2c44-4a2f-aa4b-7989c23f5754" providerId="ADAL" clId="{79E1B499-FE53-50DA-871C-E0FC362472B4}" dt="2026-10-09T07:55:54.450" v="256" actId="1076"/>
        <pc:sldMkLst>
          <pc:docMk/>
          <pc:sldMk cId="0" sldId="307"/>
        </pc:sldMkLst>
        <pc:picChg chg="add mod">
          <ac:chgData name="Alexander Giele" userId="f308f9f3-2c44-4a2f-aa4b-7989c23f5754" providerId="ADAL" clId="{79E1B499-FE53-50DA-871C-E0FC362472B4}" dt="2026-10-09T07:55:54.450" v="256" actId="1076"/>
          <ac:picMkLst>
            <pc:docMk/>
            <pc:sldMk cId="0" sldId="307"/>
            <ac:picMk id="4" creationId="{AF34D4DB-B420-167F-748B-F3F1BE54B472}"/>
          </ac:picMkLst>
        </pc:picChg>
      </pc:sldChg>
      <pc:sldChg chg="addSp delSp modSp add mod setBg">
        <pc:chgData name="Alexander Giele" userId="f308f9f3-2c44-4a2f-aa4b-7989c23f5754" providerId="ADAL" clId="{79E1B499-FE53-50DA-871C-E0FC362472B4}" dt="2026-09-25T06:18:26.153" v="174" actId="1076"/>
        <pc:sldMkLst>
          <pc:docMk/>
          <pc:sldMk cId="1039367053" sldId="321"/>
        </pc:sldMkLst>
        <pc:spChg chg="mod">
          <ac:chgData name="Alexander Giele" userId="f308f9f3-2c44-4a2f-aa4b-7989c23f5754" providerId="ADAL" clId="{79E1B499-FE53-50DA-871C-E0FC362472B4}" dt="2026-09-25T06:18:17.380" v="171" actId="1076"/>
          <ac:spMkLst>
            <pc:docMk/>
            <pc:sldMk cId="1039367053" sldId="321"/>
            <ac:spMk id="2" creationId="{F142BCB5-CCED-CE96-1C2A-4FB1291E7A67}"/>
          </ac:spMkLst>
        </pc:spChg>
        <pc:spChg chg="add mod">
          <ac:chgData name="Alexander Giele" userId="f308f9f3-2c44-4a2f-aa4b-7989c23f5754" providerId="ADAL" clId="{79E1B499-FE53-50DA-871C-E0FC362472B4}" dt="2026-09-25T06:18:26.153" v="174" actId="1076"/>
          <ac:spMkLst>
            <pc:docMk/>
            <pc:sldMk cId="1039367053" sldId="321"/>
            <ac:spMk id="14" creationId="{B9BA60EB-8E89-6F50-0666-D46E26CC53DF}"/>
          </ac:spMkLst>
        </pc:spChg>
        <pc:picChg chg="add mod modCrop">
          <ac:chgData name="Alexander Giele" userId="f308f9f3-2c44-4a2f-aa4b-7989c23f5754" providerId="ADAL" clId="{79E1B499-FE53-50DA-871C-E0FC362472B4}" dt="2026-09-25T06:13:25.714" v="15" actId="1076"/>
          <ac:picMkLst>
            <pc:docMk/>
            <pc:sldMk cId="1039367053" sldId="321"/>
            <ac:picMk id="12" creationId="{04D11351-27F9-070D-B5D1-EBD6E31F33E3}"/>
          </ac:picMkLst>
        </pc:picChg>
        <pc:picChg chg="add mod modCrop">
          <ac:chgData name="Alexander Giele" userId="f308f9f3-2c44-4a2f-aa4b-7989c23f5754" providerId="ADAL" clId="{79E1B499-FE53-50DA-871C-E0FC362472B4}" dt="2026-09-25T06:17:14.954" v="26" actId="1076"/>
          <ac:picMkLst>
            <pc:docMk/>
            <pc:sldMk cId="1039367053" sldId="321"/>
            <ac:picMk id="13" creationId="{6EB6B530-3B56-EA18-786B-A3822B76F06F}"/>
          </ac:picMkLst>
        </pc:picChg>
      </pc:sldChg>
      <pc:sldChg chg="addSp delSp modSp new mod">
        <pc:chgData name="Alexander Giele" userId="f308f9f3-2c44-4a2f-aa4b-7989c23f5754" providerId="ADAL" clId="{79E1B499-FE53-50DA-871C-E0FC362472B4}" dt="2026-10-09T06:30:09.746" v="245" actId="1076"/>
        <pc:sldMkLst>
          <pc:docMk/>
          <pc:sldMk cId="999168231" sldId="322"/>
        </pc:sldMkLst>
        <pc:spChg chg="add del mod">
          <ac:chgData name="Alexander Giele" userId="f308f9f3-2c44-4a2f-aa4b-7989c23f5754" providerId="ADAL" clId="{79E1B499-FE53-50DA-871C-E0FC362472B4}" dt="2026-10-09T06:28:09.097" v="186" actId="478"/>
          <ac:spMkLst>
            <pc:docMk/>
            <pc:sldMk cId="999168231" sldId="322"/>
            <ac:spMk id="3" creationId="{E34B36A3-DD56-8201-9CD8-D415DA181D56}"/>
          </ac:spMkLst>
        </pc:spChg>
        <pc:spChg chg="add mod">
          <ac:chgData name="Alexander Giele" userId="f308f9f3-2c44-4a2f-aa4b-7989c23f5754" providerId="ADAL" clId="{79E1B499-FE53-50DA-871C-E0FC362472B4}" dt="2026-10-09T06:29:19.151" v="192" actId="20577"/>
          <ac:spMkLst>
            <pc:docMk/>
            <pc:sldMk cId="999168231" sldId="322"/>
            <ac:spMk id="5" creationId="{B6B75AE5-F59B-F984-545F-907F8F22199A}"/>
          </ac:spMkLst>
        </pc:spChg>
        <pc:spChg chg="add mod">
          <ac:chgData name="Alexander Giele" userId="f308f9f3-2c44-4a2f-aa4b-7989c23f5754" providerId="ADAL" clId="{79E1B499-FE53-50DA-871C-E0FC362472B4}" dt="2026-10-09T06:29:41.558" v="238" actId="207"/>
          <ac:spMkLst>
            <pc:docMk/>
            <pc:sldMk cId="999168231" sldId="322"/>
            <ac:spMk id="6" creationId="{946AD586-B0CF-C641-DBE3-8B07E5FD97BB}"/>
          </ac:spMkLst>
        </pc:spChg>
        <pc:picChg chg="add del mod">
          <ac:chgData name="Alexander Giele" userId="f308f9f3-2c44-4a2f-aa4b-7989c23f5754" providerId="ADAL" clId="{79E1B499-FE53-50DA-871C-E0FC362472B4}" dt="2026-10-09T06:29:51.096" v="242" actId="478"/>
          <ac:picMkLst>
            <pc:docMk/>
            <pc:sldMk cId="999168231" sldId="322"/>
            <ac:picMk id="4" creationId="{AB9B8C18-F68D-440A-91B3-7F56E615FF2F}"/>
          </ac:picMkLst>
        </pc:picChg>
        <pc:picChg chg="add mod">
          <ac:chgData name="Alexander Giele" userId="f308f9f3-2c44-4a2f-aa4b-7989c23f5754" providerId="ADAL" clId="{79E1B499-FE53-50DA-871C-E0FC362472B4}" dt="2026-10-09T06:30:09.746" v="245" actId="1076"/>
          <ac:picMkLst>
            <pc:docMk/>
            <pc:sldMk cId="999168231" sldId="322"/>
            <ac:picMk id="7" creationId="{8D6B131C-68EE-ACF8-0372-4E6B65D4F18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0902D80D-113B-DF9D-D20A-113766039C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5CAF821-447B-4A7D-6229-F5305BE484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338B4-ECDF-4C22-9B13-04A3404A182B}" type="datetimeFigureOut">
              <a:rPr lang="nl-NL" smtClean="0"/>
              <a:t>09-10-2026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6C8B630-0D07-066D-89C2-0843322D50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0BAB93E-97AB-3637-5902-481F8AC5BA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AAB35-8311-488C-88BC-4E98A8EC07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9684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9771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studenten: 'Welke websites kennen jullie en denken jullie dat die HTML gebruiken?' Bijna altijd ja!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Teken dit op het bord: openingstag → inhoud → sluitingstag. Laat studenten het nazeggen.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 dit LIVE voor de klas in VS Code. Sla op als .html en open in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zien wat er gebeurt als je WEL witruimte in de code zet.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rond terwijl studenten werken. Controleer dat iedereen de Codecademy-module heeft gevonden.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 dit mondeling of schrijf vragen op het bord. Geef 2 minuten denktijd, dan klassikaal bespreken.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studenten target='_blank' vergeten en dan toevoegen — ze zien meteen het verschil.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bewust een foute src zien — studenten begrijpen dan waarom alt zo belangrijk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Vraag: 'Wanneer gebruik je &lt;ul&gt; en wanneer &lt;ol&gt;?' Laat studenten zelf voorbeelden verzinnen.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een relatief grote opdracht. Studenten die sneller zijn kunnen een derde pagina toevoegen.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Analogie: div = een doos, span = een sticker. Div omvat secties, span markeert tekst.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688BE-6AD2-2B55-3E65-4BC60803C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711EF-CA78-47CD-EA74-B2C2963DF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238D4-3146-0862-6369-AE3360846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Analogie: div = een doos, span = een sticker. Div omvat secties, span markeert tekst.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E6730-A922-2B97-C65E-4BB456C0D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10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Vergelijk twee versies: één met alleen &lt;div&gt;, één met semantische tags. Welke is leesbaarder?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studenten: wat is beter leesbaar — &lt;div class='header'&gt; of &lt;header&gt;?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 het verschil uit: id is uniek, class is een groep. Dit wordt heel belangrijk bij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Studenten die klaar zijn: laat hen ook een &lt;aside&gt; met 'Tips' of 'Links' toevoegen.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 = kop (header), td = cel (data), tr = rij. thead = kopgedeelte, tbody =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Koppel altijd &lt;label&gt; aan &lt;input&gt; via for + id. Dat helpt ook bij toegankelijkheid.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Visualiseer de mappenstructuur op het bord: index.html, /afbeeldingen/, /css/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Beoordeling: structuur (40%), semantiek (30%), volledigheid (30%). CSS volgt in de volgende 4 lessen!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een pagina zien met en zonder CSS (bijv. via de developer tools in Chrome: CSS uitschakelen).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Aanbeveling: gebruik altijd externe stylesheets. Dat houdt HTML en CSS netjes gescheiden.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selector = op WIE het van toepassing is. property = WAT je aanpast. waarde = HOE het eruit ziet.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= tag, .klasse = herbruikbaar label, #id = uniek element. Combineren kan ook!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Analogie: specificiteit is een puntenspel. id=100 punten, class=10 punten, type=1 punt. Meeste punten wint.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Controleer of de link correct werkt: openen in browser, stijlen zichtbaar? Veelgemaakte fout: verkeerd pad.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browser DevTools zien: je kunt kleuren live aanpassen!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font-family: altijd een fallback opgeven! Arial, sans-serif — als Arial niet werkt, gebruik sans-serif.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Tip: kies altijd ook een achtergrondkleur als je een background-image gebruikt — als de afb. niet laadt.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Oefening: laat studenten de nav a selector proberen — links in de navigatie een andere kleur geven.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Controleer het resultaat in de browser. Inspecteer elementen met F12 → styles.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Teken het Box Model op het bord: vier lagen als concentrische rechthoeken. DevTools live 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live zien: geef een element padding en margin en kijk in DevTools wat er verandert.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een veelgemaakte fout bij beginners! Zet box-sizing: border-box altijd bovenaan je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kunt dit gedrag veranderen! display: inline-block geeft inline gedrag MET instelbare afmetingen.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Studenten die klaar zijn: experimenteer met border: 1px solid #ccc; op de kaarten.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een voorbeeld zien met en zonder deze properties. Kleine aanpassingen, groot effect!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Tip: gebruik de browser DevTools om CSS live aan te passen voor je het in je bestand zet.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een behoorlijke lijst! Studenten die dit beheersen hebben een solide basis voor de rest van de opleiding.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Beoordeling: HTML structuur &amp; semantiek (35%), CSS styling &amp; selectors (35%), volledigheid (30%). Presentatie is optioneel maar aanbevolen.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3474720" y="457200"/>
            <a:ext cx="2194560" cy="21945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3474720" y="4572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Deel 1: HTML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Lessen 1 t/m 4 — Structuur &amp; inhoud van webpagina's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3C5FD"/>
                </a:solidFill>
              </a:rPr>
              <a:t>ICT System Engineer · MBO niveau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via Codecademy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HTML?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De basis van elke webpagina · Structuur &amp; elementen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HTML /&gt;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1 — Overzicht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HTML? — Eerste structuur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5506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60020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HTML en waarom leer je het?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65760" y="2313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2258568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1143000" y="225856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anatomie van een HTML-element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36576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2916936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1143000" y="291693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eerste HTML-document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365760" y="3630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3575304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1143000" y="357530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Werken met koppen en alinea's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288536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365760" y="4288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4233672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1143000" y="423367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Praktijkopdracht in Codecademy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HTML?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staat voor HyperText Markup Language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geeft structuur aan een webpagina — geen opmaak, dat doet CSS later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(Chrome, Firefox) lezen HTML en zetten het om naar een zichtbare pagina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website op internet is gebouwd op HTML als fundament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ICT System Engineer kom je HTML overal tegen: logs, dashboards, portals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Codecademy begeleidt je stap voor stap door de stof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Anatomie van een HTML-element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element bestaat uit: openingstag + inhoud + sluitingstag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Openingstag:  &lt;tagnaam&gt;   — geeft aan waar het element begint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Sluitingstag: &lt;/tagnaam&gt;  — de / geeft het einde aan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Inhoud: de tekst of andere elementen ertussen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Sommige elementen zijn 'leeg' (self-closing): &lt;br&gt;  &lt;img&gt;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Attributen geven extra informatie mee:  &lt;a href="url"&gt;tekst&lt;/a&gt;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eerste HTML-document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HTML-pagina heeft dezelfde basisstructuur: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&lt;title&gt;Mijn eerste pagina&lt;/title&gt;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Hier komt de zichtbare inhoud --&gt;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&lt;h1&gt;Hallo wereld!&lt;/h1&gt;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&lt;p&gt;Dit is mijn eerste webpagina.&lt;/p&gt;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Koppen en alinea's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Heading-elementen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 — Grootste kop (paginatitel)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&lt;h2&gt; — Subkop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&lt;h3&gt; t/m &lt;h6&gt; — Steeds kleiner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maar één &lt;h1&gt; per pagina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Volgorde is belangrijk voor structuur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gebruikt koppen voor SEO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484632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Paragraph &amp; tekst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 — Een alinea tekst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Witruimte in code ≠ witruimte op pagina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negeert extra spaties en enters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&lt;br&gt; — Harde regeleinde (gebruik spaarzaam)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in &lt;p&gt; loopt automatisch door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binnen &lt;body&gt; plaatsen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Opdracht Les 1 — Codecademy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Codecademy → 'Learn HTML' → Module 1: Elements and 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account aan op codecademy.com (of log in)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naar het onderdeel 'Learn HTML' en start Module 1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alle oefeningen in de module 'Elements and Structure' af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eigen .html bestand in VS Code met: DOCTYPE, html, head, body, h1, 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je bestand in de browser en laat het aan een medestudent zien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1 — Afsluiting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hebben we geleerd?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staat voor HyperText Markup Language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element: openingstag + inhoud + sluitingstag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DOCTYPE, html, head, body zijn de basis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h1–h6 voor koppen, p voor alinea's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negeert extra witruimte in de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Volgende les: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2: Links, afbeeldingen, lijsten en de eerste échte webpagina bouwen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108960"/>
            <a:ext cx="297180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60350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Huiswerk: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3657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 Codecademy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oefeningen van deze les af.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3C5FD"/>
                </a:solidFill>
              </a:rPr>
              <a:t>ICT System Engineer · MBO niveau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via Codecademy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Links, Afbeeldingen &amp; Lijsten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Inhoud toevoegen en navigeren tussen pagina's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HTML /&gt;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2 — Overzicht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Afbeeldingen &amp; Lijsten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5506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60020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les 1 — korte quiz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65760" y="2313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2258568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1143000" y="225856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 met het &lt;a&gt; element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36576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2916936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1143000" y="291693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Afbeeldingen toevoegen met &lt;img&gt;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365760" y="3630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3575304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1143000" y="357530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Geordende en ongeordende lijsten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288536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365760" y="4288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4233672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1143000" y="423367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Praktijkopdracht: bouw een mini-website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Korte herhaling — Wat weet je nog?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betekent de afkorting HTML?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een openingstag en een sluitingstag?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vier elementen staan in elk HTML-document?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doet het &lt;h1&gt; element?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&lt;h1&gt; en &lt;p&gt;?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Hyperlinks — het &lt;a&gt; element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&lt;a href="..."&gt; koppel je pagina's en bestanden aan elkaar: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Externe link — opent een andere website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href="https://www.google.nl"&gt;Ga naar Google&lt;/a&gt;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Link opent in nieuw tabblad (target _blank)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href="https://codecademy.com" target="_blank"&gt;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 Codecademy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Interne link — eigen pagina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href="over-mij.html"&gt;Over mij&lt;/a&gt;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Anker-link naar sectie op dezelfde pagina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href="#contact"&gt;Naar contactformulier&lt;/a&gt;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Afbeeldingen — het &lt;img&gt; element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is een 'leeg element': geen sluitingstag, maar alt is altijd verplicht!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Basis afbeelding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src="foto.jpg" alt="Beschrijving van de foto"&gt;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Afbeelding van internet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src="https://example.com/logo.png"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alt="Logo van Example"&gt;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Afbeelding klikbaar maken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href="https://example.com"&gt;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src="logo.png" alt="Ga naar homepage"&gt;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alt-tekst: zichtbaar als afbeelding niet laadt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alt-tekst: voorgelezen door schermlezers + SEO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Lijsten — geordend en ongeordend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Ongeordende lijst  &lt;ul&gt;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voor items zonder volgorde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item staat in een &lt;li&gt; element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Standaard: ronde bullet points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boodschappenlijst, kenmerken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&lt;li&gt;HTML&lt;/li&gt;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&lt;li&gt;CSS&lt;/li&gt;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&lt;li&gt;JavaScript&lt;/li&gt;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&lt;/ul&gt;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484632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Geordende lijst  &lt;ol&gt;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als volgorde wél belangrijk 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genummerd door de browser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Ideaal voor stappen, instructies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&lt;ol&gt;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&lt;li&gt;Open VS Code&lt;/li&gt;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&lt;li&gt;Maak nieuw bestand&lt;/li&gt;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&lt;li&gt;Sla op als .html&lt;/li&gt;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&lt;li&gt;Open in browser&lt;/li&gt;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&lt;/ol&gt;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Opdracht Les 2 — Mini-website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een persoonlijke 'visitekaartje' website van minimaal 2 pagina's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twee bestanden: index.html en over-mij.html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op index.html toe: een &lt;h1&gt; met je naam, een &lt;img&gt;, een &lt;ul&gt; met 3 hobby's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op over-mij.html toe: een &lt;h2&gt;, een &lt;p&gt; over jezelf, een &lt;ol&gt; met 3 doelen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de twee pagina's met elkaar via &lt;a href="..."&gt;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ook de Codecademy oefeningen: Module 1 afronden + starten met Module 2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2 — Afsluiting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hebben we geleerd?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href="..."&gt; maakt klikbare hyperlinks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 opent link in nieuw tabblad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 src="..." alt="..."&gt; voor afbeeldingen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alt-tekst is verplicht voor toegankelijkheid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= ongeordend, &lt;ol&gt; = geordend, &lt;li&gt; = item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Volgende les: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3: Paginastructuur met div &amp; span, semantische HTML en tekststijlen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108960"/>
            <a:ext cx="297180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60350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Huiswerk: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3657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 Codecademy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oefeningen van deze les af.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3C5FD"/>
                </a:solidFill>
              </a:rPr>
              <a:t>ICT System Engineer · MBO niveau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via Codecademy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Structuur &amp; Semantische HTML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Pagina's logisch opbouwen met de juiste elementen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HTML /&gt;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—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Overzicht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Structuur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Semantische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HTML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74351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17435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119487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143000" y="1119487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les 2 — inleveren mini-website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32719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65760" y="183271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1777855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1143000" y="1777855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Containers: &lt;div&gt; en &lt;span&gt;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91087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365760" y="24910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2436223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1143000" y="2436223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Semantische HTML — de juiste tag kiezen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49455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365760" y="314945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3094591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1143000" y="3094591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Tekststijlen: &lt;strong&gt;, &lt;em&gt;, commentaar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807823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365760" y="380782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3752959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1143000" y="3752959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HTML-attributen: id en class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466191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365760" y="446619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0120" y="4411327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1143000" y="4411327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Praktijkopdracht: pagina structureren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Containers: &lt;div&gt; en &lt;span&gt;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&lt;div&gt; — Blok-container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Groepeert meerdere elementen samen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Neemt volledige breedte in beslag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altijd op een nieuwe regel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voor grote secties van je pagina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&lt;h2&gt;Sectie&lt;/h2&gt;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&lt;p&gt;Tekst hier...&lt;/p&gt;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484632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&lt;span&gt; — Inline container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Groepeert tekst BINNEN een alinea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Neemt alleen de benodigde breedte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Begint NIET op een nieuwe regel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Handig om losse woorden op te maken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&lt;p&gt;Dit is een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&lt;span&gt;speciaal woord&lt;/span&gt;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een zin.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&lt;/p&gt;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8711-22C2-FA43-D6BE-AEBF7FAEB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42BCB5-CCED-CE96-1C2A-4FB1291E7A67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67CAED-39AA-252A-1FD2-9F7DF46C906B}"/>
              </a:ext>
            </a:extLst>
          </p:cNvPr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Containers: &lt;div&gt; en &lt;span&gt;</a:t>
            </a:r>
            <a:endParaRPr lang="en-US" sz="2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2ED4B9-E82B-79E7-292E-52098166BE6E}"/>
              </a:ext>
            </a:extLst>
          </p:cNvPr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C35398-8157-B473-A961-341DD977DC69}"/>
              </a:ext>
            </a:extLst>
          </p:cNvPr>
          <p:cNvSpPr/>
          <p:nvPr/>
        </p:nvSpPr>
        <p:spPr>
          <a:xfrm>
            <a:off x="36576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&lt;div&gt; — Blok-container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90768BA-EF29-2B64-5ED6-07BCD39E3C44}"/>
              </a:ext>
            </a:extLst>
          </p:cNvPr>
          <p:cNvSpPr/>
          <p:nvPr/>
        </p:nvSpPr>
        <p:spPr>
          <a:xfrm>
            <a:off x="484632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&lt;span&gt; — Inline container</a:t>
            </a:r>
            <a:endParaRPr lang="en-US" sz="1200" dirty="0"/>
          </a:p>
        </p:txBody>
      </p:sp>
      <p:pic>
        <p:nvPicPr>
          <p:cNvPr id="12" name="Afbeelding 11" descr="css - Create layout HTML with different div with different height - Stack  Overflow">
            <a:extLst>
              <a:ext uri="{FF2B5EF4-FFF2-40B4-BE49-F238E27FC236}">
                <a16:creationId xmlns:a16="http://schemas.microsoft.com/office/drawing/2014/main" id="{04D11351-27F9-070D-B5D1-EBD6E31F33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51" t="3919" r="12791" b="9116"/>
          <a:stretch>
            <a:fillRect/>
          </a:stretch>
        </p:blipFill>
        <p:spPr>
          <a:xfrm>
            <a:off x="0" y="1147572"/>
            <a:ext cx="4331631" cy="3648456"/>
          </a:xfrm>
          <a:prstGeom prst="rect">
            <a:avLst/>
          </a:prstGeom>
        </p:spPr>
      </p:pic>
      <p:pic>
        <p:nvPicPr>
          <p:cNvPr id="13" name="Afbeelding 12" descr="span&gt; Tag in HTML - Scaler Topics">
            <a:extLst>
              <a:ext uri="{FF2B5EF4-FFF2-40B4-BE49-F238E27FC236}">
                <a16:creationId xmlns:a16="http://schemas.microsoft.com/office/drawing/2014/main" id="{6EB6B530-3B56-EA18-786B-A3822B76F0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08" t="17974" r="13255" b="40277"/>
          <a:stretch>
            <a:fillRect/>
          </a:stretch>
        </p:blipFill>
        <p:spPr>
          <a:xfrm>
            <a:off x="4663440" y="2555750"/>
            <a:ext cx="4600179" cy="1033271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B9BA60EB-8E89-6F50-0666-D46E26CC53DF}"/>
              </a:ext>
            </a:extLst>
          </p:cNvPr>
          <p:cNvSpPr/>
          <p:nvPr/>
        </p:nvSpPr>
        <p:spPr>
          <a:xfrm>
            <a:off x="4754882" y="1703071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/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stijl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toepassen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specfiek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stukje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je HTML,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hieronder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gearceerde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span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39367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Semantische HTML — de juiste tag kiezen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 = de tag beschrijft WAT de inhoud betekent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  — bovenkant van de pagina (logo, navigatie)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&lt;nav&gt;     — navigatiemenu met links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&lt;main&gt;    — de hoofdinhoud van de pagina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&lt;section&gt; — een logisch onderdeel van de pagina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&lt;article&gt; — zelfstandige inhoud (blogpost, nieuwtje)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&lt;footer&gt;  — onderkant van de pagina (copyright, contact)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&lt;aside&gt;   — zijbalk of aanvullende informatie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Voordeel: beter voor Google, schermlezers &amp; collega's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Semantische paginastructuur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moderne HTML-pagina gebruikt semantische elementen i.p.v. alleen div's: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&lt;h1&gt;Mijn Website&lt;/h1&gt;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&lt;nav&gt;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href="index.html"&gt;Home&lt;/a&gt;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href="over-mij.html"&gt;Over mij&lt;/a&gt;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&lt;/nav&gt;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&lt;h2&gt;Welkom&lt;/h2&gt;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&lt;p&gt;Dit is de hoofdinhoud.&lt;/p&gt;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&lt;/main&gt;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&lt;p&gt;© 2025 Mijn Naam&lt;/p&gt;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&lt;/footer&gt;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Tekststijlen &amp; attributen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Tekst opmaken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&lt;strong&gt; — Belangrijke tekst (vet)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&lt;em&gt;     — Benadrukte tekst (cursief)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voor betekenis, niet voor uiterlijk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Uiterlijk regelen doe je straks met CSS!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&lt;!-- Commentaar --&gt;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zichtbaar in de browser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om code toe te lichten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484632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 Attributen: id en class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Attributen geven extra info aan een element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in de openingstag: naam="waarde"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— uniek per pagina (zoals BSN-nummer)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&lt;h2 id="contact"&gt;Contact&lt;/h2&gt;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— herbruikbaar label (meerdere elementen)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&lt;p class="intro"&gt;Tekst...&lt;/p&gt;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gebruikt id (#) en class (.) straks!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Opdracht Les 3 — Pagina herstructureren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Verbeter je mini-website uit les 2 met semantische HTML en attributen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aan index.html toe: &lt;header&gt;, &lt;nav&gt;, &lt;main&gt;, &lt;footer&gt;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&lt;section&gt; om de inhoud te verdelen in logische blokken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&lt;strong&gt; op minimaal één plek voor een belangrijk woord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id-attributen toe aan secties (voor anker-links en straks CSS)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een interne navigatielink toe met href="#section-id"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Codecademy: maak de 'Semantic HTML' sectie af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— Afsluiting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hebben we geleerd?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 groepeert blok-elementen, &lt;span&gt; inline tekst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Semantische tags: header, nav, main, section, footer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Semantiek = betere SEO, toegankelijkheid &amp; leesbaarheid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&lt;strong&gt; en &lt;em&gt; voor betekenisvolle tekststijl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uniek, class = herbruikbaar — beiden voor CSS!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Volgende les: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4: Tabellen, formulieren &amp; eindopdracht HTML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108960"/>
            <a:ext cx="297180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60350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Huiswerk: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3657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 Codecademy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oefeningen van deze les af.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3C5FD"/>
                </a:solidFill>
              </a:rPr>
              <a:t>ICT System Engineer · MBO niveau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via Codecademy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Tabellen, Formulieren &amp; Eindopdracht HTML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HTML afronden — straks gaan we het opmaken met CSS!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HTML /&gt;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— Overzicht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Tabellen, Formulieren &amp; Eindopdracht HTML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5506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60020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les 3 — semantische structuur controleren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65760" y="2313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2258568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1143000" y="225856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 bouwen met &lt;table&gt;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36576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2916936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1143000" y="291693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Formulieren met &lt;form&gt; en &lt;input&gt;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365760" y="3630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3575304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1143000" y="357530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Bestandspaden: absoluut vs. relatief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288536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365760" y="4288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4233672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1143000" y="423367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Eindopdracht HTML: complete website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Tabellen — &lt;table&gt;, &lt;tr&gt;, &lt;th&gt;, &lt;td&gt;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tabel organiseert data in rijen en kolommen: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&lt;th&gt;Naam&lt;/th&gt;   &lt;th&gt;Vak&lt;/th&gt;   &lt;th&gt;Cijfer&lt;/th&gt;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&lt;td&gt;Jan&lt;/td&gt;   &lt;td&gt;HTML&lt;/td&gt;   &lt;td&gt;8.5&lt;/td&gt;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&lt;td&gt;Lisa&lt;/td&gt;  &lt;td&gt;HTML&lt;/td&gt;   &lt;td&gt;9.0&lt;/td&gt;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Formulieren — &lt;form&gt; en &lt;input&gt;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formulieren kunnen gebruikers gegevens invullen en versturen: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action="/verstuur" method="post"&gt;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for="naam"&gt;Naam:&lt;/label&gt;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id="naam" name="naam"&gt;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for="email"&gt;E-mail:&lt;/label&gt;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id="email" name="email"&gt;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type="checkbox" id="akkoord"&gt;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for="akkoord"&gt;Ik ga akkoord&lt;/label&gt;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type="submit"&gt;Versturen&lt;/button&gt;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Bestandspaden: absoluut vs. relatief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Absoluut pad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Begint altijd met https://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Verwijst naar een andere server/website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altijd, ongeacht je mapstructuur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src="https://example.com/foto.jpg"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href="https://www.google.nl"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voor: externe links &amp; afbeeldingen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484632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Relatief pad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Verwijst naar eigen bestand op server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Begint met ./ (huidige map) of ../ (omhoog)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Korter en draagbaarder dan absoluut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./afbeeldingen/logo.png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../css/stijl.css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over-mij.html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voor: eigen bestanden &amp; mappen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Eindopdracht HTML — Volledige Website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een complete HTML-website over een ICT-onderwerp (minimaal 3 pagina's) — klaar voor CSS!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1 (index.html): homepage met header, nav, main, footer en welkomsttekst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2: overzichtspagina met een tabel (bijv. vergelijking van technieken of planning)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3: contactpagina met volledig formulier (naam, e-mail, bericht, verzendknop)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pagina's verbonden via navigatielinks in een &lt;nav&gt;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id en class attributen — die ga je straks in CSS gebruiken!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in als ZIP-bestand via de schoolomgeving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— Afsluiting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hebben we geleerd?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Tabellen: table, thead, tbody, tr, th, td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Formulieren: form, input, label, button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koppelen aan input via for + 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Absoluut pad: https://... | Relatief: ./bestand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HTML-basis is nu compleet — klaar voor CSS!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Volgende les: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5: CSS — Cascading Style Sheets. We gaan je HTML opmaken!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108960"/>
            <a:ext cx="297180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60350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Huiswerk: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3657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 Codecademy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oefeningen van deze les af.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3474720" y="457200"/>
            <a:ext cx="2194560" cy="2194560"/>
          </a:xfrm>
          <a:prstGeom prst="ellipse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3474720" y="4572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B2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Deel 2: CSS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Lessen 5 t/m 8 — Stijl, kleur en lay-out toevoegen aan je HTML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1645920" cy="1645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3C5FD"/>
                </a:solidFill>
              </a:rPr>
              <a:t>ICT System Engineer · MBO niveau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via Codecademy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Syntax &amp; Selectors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Je HTML mooi maken · Selectors, properties en waarden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2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CSS /&gt;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5 —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Overzicht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CSS Syntax &amp; Selectors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67819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16781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112955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143000" y="1112955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CSS en waarom heb je het nodig?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26187"/>
            <a:ext cx="438912" cy="43891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65760" y="18261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1771323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1143000" y="1771323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koppelen aan HTML (extern, intern, inline)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84555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365760" y="248455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2429691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1143000" y="2429691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syntax: selector, property, waarde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42923"/>
            <a:ext cx="438912" cy="43891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365760" y="314292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3088059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1143000" y="3088059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Type-, class- en id-selectors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801291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365760" y="380129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3746427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1143000" y="3746427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 welke stijl wint?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459659"/>
            <a:ext cx="438912" cy="43891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365760" y="445965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0120" y="4404795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1143000" y="4404795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Praktijkopdracht: eerste CSS bestand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CSS?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staat voor Cascading Style Sheets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geeft structuur — CSS geeft het uiterlijk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CSS is elke website zwarte tekst op een witte achtergrond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CSS bepaal je: kleuren, lettertypen, afstand, grootte en lay-out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is een aparte taal met eigen syntax, los van HTML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= stijlen 'vloeien' door van ouder naar kind-element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ICT System Engineer gebruik je CSS voor dashboards, portals en tools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koppelen aan HTML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Externe stylesheet (beste methode)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staat in een apart .css bestand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 via &lt;link&gt; in de &lt;head&gt;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Makkelijkst te onderhouden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CSS-bestand voor meerdere pagina's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HTML (head):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 href="style.css"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rel="stylesheet"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type="text/css"&gt;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484632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Interne &amp; inline stijlen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Intern: &lt;style&gt; tag in de &lt;head&gt;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&lt;style&gt;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h1 { color: blue; }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&lt;/style&gt;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Inline: style attribuut op het element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&lt;h1 style="color: blue;"&gt;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Titel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&lt;/h1&gt;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overschrijft intern en extern!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Syntax — Hoe schrijf je CSS?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CSS-regel bestaat uit een selector en één of meer declaraties: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Structuur van een CSS-regel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property: waarde;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property: waarde;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Voorbeelden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16px;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#333333;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Type-, class- en id-selectors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basisselectors die je het vaakst gebruikt: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Type selector — selecteert alle &lt;p&gt; elementen */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darkblue;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Class selector — selecteert elementen met class='intro' */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.intro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18px;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bold;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ID selector — selecteert het element met id='header' */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navy;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Meerdere selectors tegelijk */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h2, h3 { color: purple; }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 — Welke stijl wint?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meerdere regels op hetzelfde element van toepassing zijn, wint de meest specifieke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Rangorde van laag naar hoog: type selector → class selector → id selector → inline stijl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selector (.p): laagste specificiteit — geldt voor alle elementen van dat 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selector (.klasse): middelste specificiteit — geldt voor elementen met die class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selector (#id): hoge specificiteit — geldt voor dat ene unieke element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style: hoogste specificiteit — overschrijft alles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!important: sloeg alle specificiteit over — gebruik dit zo weinig mogelijk!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B6B75AE5-F59B-F984-545F-907F8F22199A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46AD586-B0CF-C641-DBE3-8B07E5FD97BB}"/>
              </a:ext>
            </a:extLst>
          </p:cNvPr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chemeClr val="bg1"/>
                </a:solidFill>
              </a:rPr>
              <a:t>Koppelen</a:t>
            </a:r>
            <a:r>
              <a:rPr lang="en-US" sz="2000" dirty="0">
                <a:solidFill>
                  <a:schemeClr val="bg1"/>
                </a:solidFill>
              </a:rPr>
              <a:t> van CSS file </a:t>
            </a:r>
            <a:r>
              <a:rPr lang="en-US" sz="2000" dirty="0" err="1">
                <a:solidFill>
                  <a:schemeClr val="bg1"/>
                </a:solidFill>
              </a:rPr>
              <a:t>aan</a:t>
            </a:r>
            <a:r>
              <a:rPr lang="en-US" sz="2000" dirty="0">
                <a:solidFill>
                  <a:schemeClr val="bg1"/>
                </a:solidFill>
              </a:rPr>
              <a:t> je HMTL file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8D6B131C-68EE-ACF8-0372-4E6B65D4F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58" y="795516"/>
            <a:ext cx="6889376" cy="405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682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Opdracht Les 5 — Eerste CSS bestand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 een extern CSS-bestand aan je HTML-website en voeg basisstijlen toe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nieuw bestand: style.css in dezelfde map als index.html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 het aan index.html via &lt;link href="style.css" rel="stylesheet" type="text/css"&gt;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de &lt;h1&gt; een kleur met: h1 { color: navy; }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een class="intro" aan één &lt;p&gt; en stijl die via .intro { font-size: 18px; }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Stijl het &lt;body&gt; element: achtergrondkleur toevoegen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Codecademy: start 'Learn CSS' → Module: Syntax and Selectors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5 — Afsluiting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hebben we geleerd?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= Cascading Style Sheets — voor het uiterlijk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 stylesheet via &lt;link&gt; in &lt;head&gt; is beste praktijk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{ property: waarde; } is de CSS-syntax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(p), class (.intro) en id (#header) zijn de 3 basisselectors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 id &gt; class &gt; type &gt; *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Volgende les: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6: Visuele regels — kleur, lettertype, achtergrond en tekstopmaak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108960"/>
            <a:ext cx="297180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60350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Huiswerk: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3657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 Codecademy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oefeningen van deze les af.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1645920" cy="1645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3C5FD"/>
                </a:solidFill>
              </a:rPr>
              <a:t>ICT System Engineer · MBO niveau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via Codecademy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Visuele Regels &amp; Kleuren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Kleur, lettertype, achtergrond en tekststijlen met CSS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2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CSS /&gt;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6 —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Overzicht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Visuele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regels &amp;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kleuren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61288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161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106424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143000" y="110642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les 5 — selectors en koppeling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438912" cy="43891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65760" y="1819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1764792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1143000" y="176479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Kleur: namen, HEX en RGB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78024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365760" y="2478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242316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1143000" y="24231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Lettertype: font-family, font-size, font-weight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36392"/>
            <a:ext cx="438912" cy="43891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365760" y="3136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3081528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1143000" y="308152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Tekstopmaak: text-align, color, opacity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365760" y="3794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3739896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1143000" y="373989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Achtergronden: background-color en background-image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453128"/>
            <a:ext cx="438912" cy="43891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365760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0120" y="4398264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1143000" y="439826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Praktijkopdracht: website opmaken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Kleur in CSS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Kleurnotaties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Kleurnaam: color: red;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HEX-code: color: #FF0000;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RGB: color: rgb(255, 0, 0);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 (met transparantie):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color: rgba(255,0,0,0.5);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= meest gebruikt in webdesign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#RRGGBB — elk paar = 0-255 in hex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#000000 = zwart, #FFFFFF = wit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#FF0000 = rood, #0000FF = blauw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484632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Kleurwaarden gebruiken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Tekstkleur: color: #333;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Achtergrond: background-color: #f0f0f0;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Handige kleurtips: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#333333 — donkergrijs voor tekst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 — wit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#F8F8F8 — lichtgrijs achtergrond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#1D4ED8 — blauw (accent)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een kleurenpalet tool: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coolors.co of color.adobe.com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Lettertype &amp; tekstopmaak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meestgebruikte CSS-properties voor tekst: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Lettertype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16px;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normal;     /* of bold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Tekstkleur en uitlijning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#1D4ED8;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      /* left, right, center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Transparantie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.dimmed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opacity: 0.5;            /* 0 = onzichtbaar, 1 = volledig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Achtergronden — background-color &amp; image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kan zowel effen achtergronden als afbeeldingen instellen: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Effen achtergrondkleur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#F8FAFC;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Achtergrondkleur op een sectie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#1E3A5F;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Achtergrondafbeelding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background-image: url("../afbeeldingen/banner.jpg");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Meerdere properties combineren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{ background-color: #EDE9FE; color: #4C1D95; }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 &amp; Groeperen van selectors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Chaining: combineer selectors om preciezer te zijn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h3.section-heading — alleen &lt;h3&gt; met class 'section-heading'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.card.featured — elementen met BEIDE classes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Groeperen: pas dezelfde stijl toe op meerdere selectors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h1, h2, h3 { color: navy; }  — geldt voor alle drie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 selector: stijl op basis van positie in HTML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div p { color: gray; }  — alle &lt;p&gt; BINNEN een &lt;div&gt;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nav a { color: white; }  — alle links BINNEN de navigatie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classes op één HTML-element: &lt;div class="card featured"&gt;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Opdracht Les 6 — Website opmaken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je HTML-website kleur, lettertype en achtergronden met CSS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in style.css een kleur toe aan: body, h1, h2, p, header, footer, nav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HEX-kleuren (#...) voor minimaal 3 elementen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een font-family in op de body: font-family: Arial, sans-serif;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Centreer de h1 met text-align: center;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de header een achtergrondkleur en witte tekst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Codecademy: 'Learn CSS' → Module: Visual Rules afronden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6 — Afsluiting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hebben we geleerd?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Kleurnotaties: naam, #HEX, rgb(), rgba()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font-family, font-size, font-weight voor tekst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tekstkleur, background-color = achtergrond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text-align: left/center/right voor uitlijning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opacity: 0.0–1.0 voor transparantie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Volgende les: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7: Het Box Model — margin, padding, border en breedte/hoogte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108960"/>
            <a:ext cx="297180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60350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Huiswerk: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3657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 Codecademy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oefeningen van deze les af.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1645920" cy="1645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CSS Box Model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Ruimte, randen en afmetingen begrijpen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2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CSS /&gt;</a:t>
            </a:r>
            <a:endParaRPr lang="en-US" sz="1300" dirty="0"/>
          </a:p>
        </p:txBody>
      </p:sp>
      <p:pic>
        <p:nvPicPr>
          <p:cNvPr id="11" name="Afbeelding 10" descr="r/webdev - CSS Box Model CONTENT-BOX BOX-SIZING: height BOX-SIZING: BORDER-BOX height 6 border padding content width border padding content width">
            <a:extLst>
              <a:ext uri="{FF2B5EF4-FFF2-40B4-BE49-F238E27FC236}">
                <a16:creationId xmlns:a16="http://schemas.microsoft.com/office/drawing/2014/main" id="{E2D65648-D188-0013-6843-6FDAAE7D3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23" y="1824170"/>
            <a:ext cx="2266837" cy="320965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7 —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Overzicht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Het CSS box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10927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21092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156063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143000" y="1156063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les 6 — kleuren en lettertypen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69295"/>
            <a:ext cx="438912" cy="43891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65760" y="186929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1814431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1143000" y="1814431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Box Model?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27663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365760" y="252766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2472799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1143000" y="2472799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padding, border en margin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86031"/>
            <a:ext cx="438912" cy="43891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365760" y="318603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3131167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1143000" y="3131167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Width, height en box-sizing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844399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365760" y="384439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3789535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1143000" y="3789535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block vs. inline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502767"/>
            <a:ext cx="438912" cy="43891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365760" y="450276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0120" y="4447903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1143000" y="4447903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Praktijkopdracht: kaarten opmaken</a:t>
            </a:r>
            <a:endParaRPr lang="en-US" sz="1300" dirty="0"/>
          </a:p>
        </p:txBody>
      </p:sp>
      <p:pic>
        <p:nvPicPr>
          <p:cNvPr id="4" name="Afbeelding 3" descr="CSS box model">
            <a:extLst>
              <a:ext uri="{FF2B5EF4-FFF2-40B4-BE49-F238E27FC236}">
                <a16:creationId xmlns:a16="http://schemas.microsoft.com/office/drawing/2014/main" id="{AF34D4DB-B420-167F-748B-F3F1BE54B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009" y="1069848"/>
            <a:ext cx="4103959" cy="386007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het CSS Box Model?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HTML-element is een rechthoekige 'doos' (box)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Box Model beschrijft de ruimte rondom die doos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binnen naar buiten: content → padding → border → margin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 — de eigenlijke inhoud (tekst, afbeelding)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 — ruimte BINNEN het element, tussen inhoud en rand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  — de rand van het element (kan zichtbaar zijn)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  — ruimte BUITEN het element, tussen dit en andere elementen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kunt deze lagen bekijken in de browser DevTools (F12 → Computed)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Padding, Margin &amp; Border in code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stel je ruimte en randen in met CSS: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Padding — ruimte binnen het element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                 /* alle kanten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10px 20px;            /* boven/onder  links/rechts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10px 20px 15px 5px;   /* boven rechts onder links */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Border — rand van het element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#333333;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            /* afgeronde hoeken */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Margin — ruimte buiten het element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 auto;               /* auto = horizontaal centreren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margin-bottom: 16px;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Width, Height &amp; Box-sizing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Afmetingen bepalen en het box model aanpassen: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.kaart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300px;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200px;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PROBLEEM: zonder box-sizing is de werkelijke breedte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width + padding + border = groter dan verwacht! */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OPLOSSING: box-sizing: border-box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box-sizing: border-box;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Nu is padding+border INBEGREPEN in width/height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Aanbeveling: altijd toepassen op alle elementen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box-sizing: border-box;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Display: block vs. inline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Block-elementen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Nemen volledige breedte in beslag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Beginnen altijd op een nieuwe regel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Hebben instelbare width en height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Voorbeelden: div, p, h1-h6,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header, section, ul, li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block;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voor: secties, containers,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alinea's, hoofdindeling van pagina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4846320" y="11155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Inline-elementen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Nemen alleen benodigde breedte 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Staan naast andere inline-elementen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Hebben GEEN instelbare width/height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Voorbeelden: a, span, strong,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em, img (uitzonderlijk inline-block)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inline;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voor: stukjes tekst,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kleine opmaakelementen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Opdracht Les 7 — Kaarten opmaken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het Box Model om nette kaarten te maken op je website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class="kaart" toe aan een &lt;div&gt; met inhoud op je website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.kaart in CSS: een witte achtergrond, padding: 20px, border-radius: 8px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margin: 16px toe aan .kaart zodat kaarten ruimte hebben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box-sizing: border-box toe aan alle elementen (* { box-sizing: border-box; })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de &lt;header&gt; padding: 20px 40px zodat de tekst niet tegen de rand staat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Codecademy: 'Learn CSS' → Module: The Box Model afronden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7 — Afsluiting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hebben we geleerd?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Model: content → padding → border → margin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= ruimte binnen, margin = ruimte buiten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dikte stijl kleur — border-radius voor afronding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box-sizing: border-box voorkomt verrassingen met afmetingen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= volledige breedte, inline = naast elkaar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Volgende les: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8: Eindopdracht CSS — je volledige website professioneel opmaken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108960"/>
            <a:ext cx="297180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60350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Huiswerk: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3657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 Codecademy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oefeningen van deze les af.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1645920" cy="1645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3C5FD"/>
                </a:solidFill>
              </a:rPr>
              <a:t>ICT System Engineer · MBO niveau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via Codecademy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Afronden &amp; Eindopdracht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Alles combineren — een complete, opgemaakte website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2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CSS /&gt;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8 — Overzicht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Afronden &amp; Eindopdracht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55064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365760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60020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les 7 — Box Model controleren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438912" cy="43891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65760" y="2313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2258568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1143000" y="225856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Handige extra CSS-properties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36576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2916936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1143000" y="291693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Terugblik: HTML + CSS overzicht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438912" cy="43891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365760" y="3630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3575304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1143000" y="357530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Eindopdracht: complete website met CSS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288536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365760" y="4288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4233672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1143000" y="423367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Presenteren aan de klas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Handige extra CSS-properties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text-decoration: none;  — verwijder onderstreping van links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list-style: none;       — verwijder bullets van lijsten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cursor: pointer;        — handje bij hover over een knop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50%;     — maakt rechthoek een perfecte cirkel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width: 100%;            — vul de volledige breedte van de ouder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max-width: 800px;       — maximale breedte voor leesbaarheid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0 auto;         — centreer een blok-element horizontaal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inherit;         — neem kleur over van het ouder-element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box-shadow: 2px 2px 8px rgba(0,0,0,0.1);  — schaduw onder een element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Alles combineren — praktijkvoorbeeld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voor een nette navigatie en knoppen: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3273552"/>
          </a:xfrm>
          <a:prstGeom prst="roundRect">
            <a:avLst>
              <a:gd name="adj" fmla="val 3352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896112" y="167335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170432" y="1673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Navigatie stylen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#1E3A5F;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12px 24px;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 none;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margin-right: 20px;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Knop stylen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.knop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#7C3AED;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10px 24px;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none;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6px;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cursor: pointer;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Terugblik: HTML + CSS — wat beheers je nu?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HTML structuur: DOCTYPE, html, head, title, body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Tekst: h1–h6, p, strong, em, br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Links, afbeeldingen (alt!), lijsten, tabellen, formulieren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Semantiek: header, nav, main, section, footer, aside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Attributen: id, class — basis voor CSS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CSS koppelen via &lt;link&gt; (extern stylesheet)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Selectors: type, .class, #id — specificity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Visuele regels: color, background, font, text-align, opacity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Box Model: content, padding, border, margin, box-sizing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Display: block vs. inline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Eindopdracht — HTML + CSS Website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een complete, opgemaakte website — HTML én CSS — over een ICT-onderwerp naar keuze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 vereisten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Minimaal 3 HTML-pagina's (index, overzicht, contact)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pagina's verbonden via navigatie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op overzichtspagina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 op contactpagina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4846320" y="20299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CSS vereisten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542032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 CSS-bestand (style.css)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Kleur, lettertype en achtergronden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Model: padding, margin, border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 en id's gebruikt voor styling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&amp; CSS Basis — Voltooid!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27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beheerst nu de volledige basis van webdevelopment!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2331720"/>
            <a:ext cx="1325880" cy="1600200"/>
          </a:xfrm>
          <a:prstGeom prst="roundRect">
            <a:avLst>
              <a:gd name="adj" fmla="val 827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685800" cy="6858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318211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2331720"/>
            <a:ext cx="1325880" cy="1600200"/>
          </a:xfrm>
          <a:prstGeom prst="roundRect">
            <a:avLst>
              <a:gd name="adj" fmla="val 827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2011680" y="2423160"/>
            <a:ext cx="685800" cy="6858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18211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2331720"/>
            <a:ext cx="1325880" cy="1600200"/>
          </a:xfrm>
          <a:prstGeom prst="roundRect">
            <a:avLst>
              <a:gd name="adj" fmla="val 827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3474720" y="242316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347472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0" y="318211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Semantiek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331720"/>
            <a:ext cx="1325880" cy="1600200"/>
          </a:xfrm>
          <a:prstGeom prst="roundRect">
            <a:avLst>
              <a:gd name="adj" fmla="val 827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4937760" y="242316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63440" y="318211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2331720"/>
            <a:ext cx="1325880" cy="1600200"/>
          </a:xfrm>
          <a:prstGeom prst="roundRect">
            <a:avLst>
              <a:gd name="adj" fmla="val 827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6400800" y="2423160"/>
            <a:ext cx="685800" cy="685800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640080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26480" y="318211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Kleur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Lettertype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43800" y="2331720"/>
            <a:ext cx="1325880" cy="1600200"/>
          </a:xfrm>
          <a:prstGeom prst="roundRect">
            <a:avLst>
              <a:gd name="adj" fmla="val 8276"/>
            </a:avLst>
          </a:prstGeom>
          <a:solidFill>
            <a:srgbClr val="1E3A5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6" name="Shape 24"/>
          <p:cNvSpPr/>
          <p:nvPr/>
        </p:nvSpPr>
        <p:spPr>
          <a:xfrm>
            <a:off x="7863840" y="242316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78638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589520" y="318211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stap: JavaScript — interactiviteit toevoegen aan je website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06825170B1014AB07463D863215EDA" ma:contentTypeVersion="18" ma:contentTypeDescription="Een nieuw document maken." ma:contentTypeScope="" ma:versionID="fc145ba25d89b8868e436e92cd301ab4">
  <xsd:schema xmlns:xsd="http://www.w3.org/2001/XMLSchema" xmlns:xs="http://www.w3.org/2001/XMLSchema" xmlns:p="http://schemas.microsoft.com/office/2006/metadata/properties" xmlns:ns2="50a4118b-9033-40eb-9d00-fdb3ccd4cef4" xmlns:ns3="64c9a2d0-2149-417e-9b81-d2cb8cd14947" targetNamespace="http://schemas.microsoft.com/office/2006/metadata/properties" ma:root="true" ma:fieldsID="e7e0c1584f81250ad63da992103c62c8" ns2:_="" ns3:_="">
    <xsd:import namespace="50a4118b-9033-40eb-9d00-fdb3ccd4cef4"/>
    <xsd:import namespace="64c9a2d0-2149-417e-9b81-d2cb8cd14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4118b-9033-40eb-9d00-fdb3ccd4ce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Afbeeldingtags" ma:readOnly="false" ma:fieldId="{5cf76f15-5ced-4ddc-b409-7134ff3c332f}" ma:taxonomyMulti="true" ma:sspId="e9b646d0-445b-4667-9313-42abb7194d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9a2d0-2149-417e-9b81-d2cb8cd1494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eb9c09f8-c0b7-4315-93ad-e9fecfac1330}" ma:internalName="TaxCatchAll" ma:showField="CatchAllData" ma:web="64c9a2d0-2149-417e-9b81-d2cb8cd14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a4118b-9033-40eb-9d00-fdb3ccd4cef4">
      <Terms xmlns="http://schemas.microsoft.com/office/infopath/2007/PartnerControls"/>
    </lcf76f155ced4ddcb4097134ff3c332f>
    <TaxCatchAll xmlns="64c9a2d0-2149-417e-9b81-d2cb8cd14947" xsi:nil="true"/>
  </documentManagement>
</p:properties>
</file>

<file path=customXml/itemProps1.xml><?xml version="1.0" encoding="utf-8"?>
<ds:datastoreItem xmlns:ds="http://schemas.openxmlformats.org/officeDocument/2006/customXml" ds:itemID="{1FA970FA-0F21-4D35-9256-8362E6C364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a4118b-9033-40eb-9d00-fdb3ccd4cef4"/>
    <ds:schemaRef ds:uri="64c9a2d0-2149-417e-9b81-d2cb8cd149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325E44-B175-47CF-90B5-30537B8850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32B468-5F2D-48F6-A846-F584D909954C}">
  <ds:schemaRefs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schemas.microsoft.com/office/2006/documentManagement/types"/>
    <ds:schemaRef ds:uri="64c9a2d0-2149-417e-9b81-d2cb8cd14947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50a4118b-9033-40eb-9d00-fdb3ccd4cef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6064</Words>
  <Application>Microsoft Macintosh PowerPoint</Application>
  <PresentationFormat>Diavoorstelling (16:9)</PresentationFormat>
  <Paragraphs>934</Paragraphs>
  <Slides>67</Slides>
  <Notes>66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67</vt:i4>
      </vt:variant>
    </vt:vector>
  </HeadingPairs>
  <TitlesOfParts>
    <vt:vector size="73" baseType="lpstr">
      <vt:lpstr>Aptos</vt:lpstr>
      <vt:lpstr>Arial</vt:lpstr>
      <vt:lpstr>Calibri</vt:lpstr>
      <vt:lpstr>Cambria</vt:lpstr>
      <vt:lpstr>Courier New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&amp; CSS Basis - ICT System Engineer</dc:title>
  <dc:subject>PptxGenJS Presentation</dc:subject>
  <dc:creator>Docent</dc:creator>
  <cp:lastModifiedBy>Alexander Giele</cp:lastModifiedBy>
  <cp:revision>2</cp:revision>
  <dcterms:created xsi:type="dcterms:W3CDTF">2026-06-22T07:29:42Z</dcterms:created>
  <dcterms:modified xsi:type="dcterms:W3CDTF">2026-10-09T07:55:56Z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0x010100A806825170B1014AB07463D863215EDA</vt:lpwstr>
  </property>
  <property fmtid="{D5CDD505-2E9C-101B-9397-08002B2CF9AE}" pid="3" name="MediaServiceImageTags">
    <vt:lpwstr/>
  </property>
</Properties>
</file>